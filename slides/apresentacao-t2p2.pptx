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5143500" cx="9144000"/>
  <p:notesSz cx="6858000" cy="9144000"/>
  <p:embeddedFontLst>
    <p:embeddedFont>
      <p:font typeface="Proxima Nova"/>
      <p:regular r:id="rId10"/>
      <p:bold r:id="rId11"/>
      <p:italic r:id="rId12"/>
      <p:boldItalic r:id="rId13"/>
    </p:embeddedFont>
    <p:embeddedFont>
      <p:font typeface="Average"/>
      <p:regular r:id="rId14"/>
    </p:embeddedFont>
    <p:embeddedFont>
      <p:font typeface="Oswald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roximaNova-bold.fntdata"/><Relationship Id="rId10" Type="http://schemas.openxmlformats.org/officeDocument/2006/relationships/font" Target="fonts/ProximaNova-regular.fntdata"/><Relationship Id="rId13" Type="http://schemas.openxmlformats.org/officeDocument/2006/relationships/font" Target="fonts/ProximaNova-boldItalic.fntdata"/><Relationship Id="rId12" Type="http://schemas.openxmlformats.org/officeDocument/2006/relationships/font" Target="fonts/ProximaNova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Oswald-regular.fntdata"/><Relationship Id="rId14" Type="http://schemas.openxmlformats.org/officeDocument/2006/relationships/font" Target="fonts/Average-regular.fntdata"/><Relationship Id="rId16" Type="http://schemas.openxmlformats.org/officeDocument/2006/relationships/font" Target="fonts/Oswa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a4272a991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a4272a991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9a4272a991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9a4272a991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9a4272a991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9a4272a991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Exploração em Fine-Tuning através de GraphRAG</a:t>
            </a:r>
            <a:endParaRPr/>
          </a:p>
        </p:txBody>
      </p:sp>
      <p:sp>
        <p:nvSpPr>
          <p:cNvPr id="60" name="Google Shape;60;p13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rmAutofit fontScale="775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latin typeface="Proxima Nova"/>
                <a:ea typeface="Proxima Nova"/>
                <a:cs typeface="Proxima Nova"/>
                <a:sym typeface="Proxima Nova"/>
              </a:rPr>
              <a:t>Um estudo de caso prático de definições, exploração e consolidação de conhecimento sobre métodos de Fine-Tuning através de ferramentas de GraphRAG.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61" name="Google Shape;61;p13"/>
          <p:cNvSpPr txBox="1"/>
          <p:nvPr>
            <p:ph idx="1" type="subTitle"/>
          </p:nvPr>
        </p:nvSpPr>
        <p:spPr>
          <a:xfrm>
            <a:off x="671250" y="3829200"/>
            <a:ext cx="2039400" cy="792600"/>
          </a:xfrm>
          <a:prstGeom prst="rect">
            <a:avLst/>
          </a:prstGeom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Proxima Nova"/>
                <a:ea typeface="Proxima Nova"/>
                <a:cs typeface="Proxima Nova"/>
                <a:sym typeface="Proxima Nova"/>
              </a:rPr>
              <a:t>Deivdson Pereira</a:t>
            </a:r>
            <a:endParaRPr sz="10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Proxima Nova"/>
                <a:ea typeface="Proxima Nova"/>
                <a:cs typeface="Proxima Nova"/>
                <a:sym typeface="Proxima Nova"/>
              </a:rPr>
              <a:t>Paulo Vinicius</a:t>
            </a:r>
            <a:endParaRPr sz="1000">
              <a:latin typeface="Proxima Nova"/>
              <a:ea typeface="Proxima Nova"/>
              <a:cs typeface="Proxima Nova"/>
              <a:sym typeface="Proxima Nov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>
                <a:latin typeface="Proxima Nova"/>
                <a:ea typeface="Proxima Nova"/>
                <a:cs typeface="Proxima Nova"/>
                <a:sym typeface="Proxima Nova"/>
              </a:rPr>
              <a:t>Tiago Fernandes</a:t>
            </a:r>
            <a:endParaRPr sz="1228"/>
          </a:p>
        </p:txBody>
      </p:sp>
      <p:sp>
        <p:nvSpPr>
          <p:cNvPr id="62" name="Google Shape;62;p13"/>
          <p:cNvSpPr txBox="1"/>
          <p:nvPr/>
        </p:nvSpPr>
        <p:spPr>
          <a:xfrm>
            <a:off x="5724450" y="3829188"/>
            <a:ext cx="2909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PPGEEC2327 - TÓPICOS ESPECIAIS EM PROCESSAMENTO INTELIGENTE DA INFORMAÇÃO</a:t>
            </a:r>
            <a:endParaRPr sz="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55250" y="4610552"/>
            <a:ext cx="778310" cy="248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4" name="Google Shape;64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82253" y="4610549"/>
            <a:ext cx="600771" cy="2489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 txBox="1"/>
          <p:nvPr/>
        </p:nvSpPr>
        <p:spPr>
          <a:xfrm>
            <a:off x="5724450" y="4148850"/>
            <a:ext cx="29091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rPr>
              <a:t>PROGRAMA DE PÓS-GRADUAÇÃO EM ENGENHARIA ELÉTRICA E DE COMPUTAÇÃO</a:t>
            </a:r>
            <a:endParaRPr sz="800">
              <a:solidFill>
                <a:schemeClr val="accent3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Problema vs. Tema</a:t>
            </a:r>
            <a:endParaRPr/>
          </a:p>
        </p:txBody>
      </p:sp>
      <p:grpSp>
        <p:nvGrpSpPr>
          <p:cNvPr id="71" name="Google Shape;71;p14"/>
          <p:cNvGrpSpPr/>
          <p:nvPr/>
        </p:nvGrpSpPr>
        <p:grpSpPr>
          <a:xfrm>
            <a:off x="1286550" y="1590625"/>
            <a:ext cx="2702700" cy="2311500"/>
            <a:chOff x="945925" y="1590625"/>
            <a:chExt cx="2702700" cy="2311500"/>
          </a:xfrm>
        </p:grpSpPr>
        <p:sp>
          <p:nvSpPr>
            <p:cNvPr id="72" name="Google Shape;72;p14"/>
            <p:cNvSpPr/>
            <p:nvPr/>
          </p:nvSpPr>
          <p:spPr>
            <a:xfrm>
              <a:off x="945925" y="2052325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>
                  <a:latin typeface="Proxima Nova"/>
                  <a:ea typeface="Proxima Nova"/>
                  <a:cs typeface="Proxima Nova"/>
                  <a:sym typeface="Proxima Nova"/>
                </a:rPr>
                <a:t>Técnicas e requisitos necessários para implementação de métodos de treinamento de dados específicos em LLM.</a:t>
              </a:r>
              <a:endParaRPr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1456975" y="1590625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PROBLEMA</a:t>
              </a:r>
              <a:endPara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  <p:grpSp>
        <p:nvGrpSpPr>
          <p:cNvPr id="74" name="Google Shape;74;p14"/>
          <p:cNvGrpSpPr/>
          <p:nvPr/>
        </p:nvGrpSpPr>
        <p:grpSpPr>
          <a:xfrm>
            <a:off x="5247675" y="1590625"/>
            <a:ext cx="2702700" cy="2311500"/>
            <a:chOff x="5076300" y="1590625"/>
            <a:chExt cx="2702700" cy="2311500"/>
          </a:xfrm>
        </p:grpSpPr>
        <p:sp>
          <p:nvSpPr>
            <p:cNvPr id="75" name="Google Shape;75;p14"/>
            <p:cNvSpPr/>
            <p:nvPr/>
          </p:nvSpPr>
          <p:spPr>
            <a:xfrm>
              <a:off x="5076300" y="2052325"/>
              <a:ext cx="2702700" cy="18498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>
                  <a:latin typeface="Proxima Nova"/>
                  <a:ea typeface="Proxima Nova"/>
                  <a:cs typeface="Proxima Nova"/>
                  <a:sym typeface="Proxima Nova"/>
                </a:rPr>
                <a:t>Fine-Tuning</a:t>
              </a:r>
              <a:endParaRPr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  <p:sp>
          <p:nvSpPr>
            <p:cNvPr id="76" name="Google Shape;76;p14"/>
            <p:cNvSpPr txBox="1"/>
            <p:nvPr/>
          </p:nvSpPr>
          <p:spPr>
            <a:xfrm>
              <a:off x="5587350" y="1590625"/>
              <a:ext cx="1680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pt-BR" sz="1800">
                  <a:solidFill>
                    <a:schemeClr val="accent3"/>
                  </a:solidFill>
                  <a:latin typeface="Proxima Nova"/>
                  <a:ea typeface="Proxima Nova"/>
                  <a:cs typeface="Proxima Nova"/>
                  <a:sym typeface="Proxima Nova"/>
                </a:rPr>
                <a:t>TEMA</a:t>
              </a:r>
              <a:endParaRPr sz="1800">
                <a:solidFill>
                  <a:schemeClr val="accent3"/>
                </a:solidFill>
                <a:latin typeface="Proxima Nova"/>
                <a:ea typeface="Proxima Nova"/>
                <a:cs typeface="Proxima Nova"/>
                <a:sym typeface="Proxima Nova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Metodologia</a:t>
            </a:r>
            <a:endParaRPr/>
          </a:p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Proxima Nova"/>
              <a:buChar char="-"/>
            </a:pPr>
            <a:r>
              <a:rPr i="1" lang="pt-BR">
                <a:solidFill>
                  <a:srgbClr val="FF0000"/>
                </a:solidFill>
                <a:latin typeface="Proxima Nova"/>
                <a:ea typeface="Proxima Nova"/>
                <a:cs typeface="Proxima Nova"/>
                <a:sym typeface="Proxima Nova"/>
              </a:rPr>
              <a:t>Apresentar evidências da evolução do trabalho (artigos, grafo, queries, etc)</a:t>
            </a:r>
            <a:endParaRPr i="1">
              <a:solidFill>
                <a:srgbClr val="FF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Considerações gerais</a:t>
            </a:r>
            <a:endParaRPr/>
          </a:p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800"/>
              <a:buFont typeface="Proxima Nova"/>
              <a:buChar char="-"/>
            </a:pPr>
            <a:r>
              <a:rPr i="1" lang="pt-BR">
                <a:solidFill>
                  <a:srgbClr val="FF0000"/>
                </a:solidFill>
                <a:latin typeface="Proxima Nova"/>
                <a:ea typeface="Proxima Nova"/>
                <a:cs typeface="Proxima Nova"/>
                <a:sym typeface="Proxima Nova"/>
              </a:rPr>
              <a:t>Apresentar resultados gerados, insights em geral</a:t>
            </a:r>
            <a:endParaRPr i="1">
              <a:solidFill>
                <a:srgbClr val="FF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