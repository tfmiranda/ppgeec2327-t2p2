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6858000" cy="9144000"/>
  <p:embeddedFontLst>
    <p:embeddedFont>
      <p:font typeface="Proxima Nova"/>
      <p:regular r:id="rId18"/>
      <p:bold r:id="rId19"/>
      <p:italic r:id="rId20"/>
      <p:boldItalic r:id="rId21"/>
    </p:embeddedFont>
    <p:embeddedFont>
      <p:font typeface="Average"/>
      <p:regular r:id="rId22"/>
    </p:embeddedFont>
    <p:embeddedFont>
      <p:font typeface="Oswald"/>
      <p:regular r:id="rId23"/>
      <p:bold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roximaNova-italic.fntdata"/><Relationship Id="rId11" Type="http://schemas.openxmlformats.org/officeDocument/2006/relationships/slide" Target="slides/slide6.xml"/><Relationship Id="rId22" Type="http://schemas.openxmlformats.org/officeDocument/2006/relationships/font" Target="fonts/Average-regular.fntdata"/><Relationship Id="rId10" Type="http://schemas.openxmlformats.org/officeDocument/2006/relationships/slide" Target="slides/slide5.xml"/><Relationship Id="rId21" Type="http://schemas.openxmlformats.org/officeDocument/2006/relationships/font" Target="fonts/ProximaNova-boldItalic.fntdata"/><Relationship Id="rId13" Type="http://schemas.openxmlformats.org/officeDocument/2006/relationships/slide" Target="slides/slide8.xml"/><Relationship Id="rId24" Type="http://schemas.openxmlformats.org/officeDocument/2006/relationships/font" Target="fonts/Oswald-bold.fntdata"/><Relationship Id="rId12" Type="http://schemas.openxmlformats.org/officeDocument/2006/relationships/slide" Target="slides/slide7.xml"/><Relationship Id="rId23" Type="http://schemas.openxmlformats.org/officeDocument/2006/relationships/font" Target="fonts/Oswald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ProximaNova-bold.fntdata"/><Relationship Id="rId6" Type="http://schemas.openxmlformats.org/officeDocument/2006/relationships/slide" Target="slides/slide1.xml"/><Relationship Id="rId18" Type="http://schemas.openxmlformats.org/officeDocument/2006/relationships/font" Target="fonts/ProximaNova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9a4272a991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9a4272a991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9a4272a991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9a4272a991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9a4272a991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9a4272a991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9a4a3359d3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9a4a3359d3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b0e77aa1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b0e77aa1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9a658c259d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9a658c259d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b0e77aa1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db0e77aa1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db0e77aa17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db0e77aa17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db0e77aa17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db0e77aa17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db0e77aa17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db0e77aa17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db0e77aa17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db0e77aa17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4350279" y="2855377"/>
            <a:ext cx="443589" cy="105632"/>
            <a:chOff x="4137525" y="2915950"/>
            <a:chExt cx="869100" cy="207000"/>
          </a:xfrm>
        </p:grpSpPr>
        <p:sp>
          <p:nvSpPr>
            <p:cNvPr id="11" name="Google Shape;11;p2"/>
            <p:cNvSpPr/>
            <p:nvPr/>
          </p:nvSpPr>
          <p:spPr>
            <a:xfrm>
              <a:off x="446857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47996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41375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5263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swald"/>
              <a:buNone/>
              <a:defRPr sz="21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255275"/>
            <a:ext cx="8520600" cy="189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lat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lvl="1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lvl="2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lvl="3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lvl="4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lvl="5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lvl="6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lvl="7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lvl="8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Exploração do Fine-Tuning através de GraphRAG</a:t>
            </a:r>
            <a:endParaRPr/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latin typeface="Proxima Nova"/>
                <a:ea typeface="Proxima Nova"/>
                <a:cs typeface="Proxima Nova"/>
                <a:sym typeface="Proxima Nova"/>
              </a:rPr>
              <a:t>Um estudo de caso prático da exploração de conceitos e consolidação de conhecimento sobre métodos de Fine-Tuning assistido por ferramentas de GraphRAG.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61" name="Google Shape;61;p13"/>
          <p:cNvSpPr txBox="1"/>
          <p:nvPr>
            <p:ph idx="1" type="subTitle"/>
          </p:nvPr>
        </p:nvSpPr>
        <p:spPr>
          <a:xfrm>
            <a:off x="671250" y="3829200"/>
            <a:ext cx="2039400" cy="7926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latin typeface="Proxima Nova"/>
                <a:ea typeface="Proxima Nova"/>
                <a:cs typeface="Proxima Nova"/>
                <a:sym typeface="Proxima Nova"/>
              </a:rPr>
              <a:t>Deivdson Pereira</a:t>
            </a:r>
            <a:endParaRPr sz="10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latin typeface="Proxima Nova"/>
                <a:ea typeface="Proxima Nova"/>
                <a:cs typeface="Proxima Nova"/>
                <a:sym typeface="Proxima Nova"/>
              </a:rPr>
              <a:t>Paulo Vinicius</a:t>
            </a:r>
            <a:endParaRPr sz="10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latin typeface="Proxima Nova"/>
                <a:ea typeface="Proxima Nova"/>
                <a:cs typeface="Proxima Nova"/>
                <a:sym typeface="Proxima Nova"/>
              </a:rPr>
              <a:t>Tiago Fernandes</a:t>
            </a:r>
            <a:endParaRPr sz="1228"/>
          </a:p>
        </p:txBody>
      </p:sp>
      <p:sp>
        <p:nvSpPr>
          <p:cNvPr id="62" name="Google Shape;62;p13"/>
          <p:cNvSpPr txBox="1"/>
          <p:nvPr/>
        </p:nvSpPr>
        <p:spPr>
          <a:xfrm>
            <a:off x="5724450" y="3829188"/>
            <a:ext cx="2909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PPGEEC2327 - TÓPICOS ESPECIAIS EM PROCESSAMENTO INTELIGENTE DA INFORMAÇÃO</a:t>
            </a:r>
            <a:endParaRPr sz="800"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63" name="Google Shape;6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55250" y="4610552"/>
            <a:ext cx="778310" cy="24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82253" y="4610549"/>
            <a:ext cx="600771" cy="2489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3"/>
          <p:cNvSpPr txBox="1"/>
          <p:nvPr/>
        </p:nvSpPr>
        <p:spPr>
          <a:xfrm>
            <a:off x="5724450" y="4148850"/>
            <a:ext cx="2909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PROGRAMA DE PÓS-GRADUAÇÃO EM ENGENHARIA ELÉTRICA E DE COMPUTAÇÃO</a:t>
            </a:r>
            <a:endParaRPr sz="800"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Introdução</a:t>
            </a:r>
            <a:endParaRPr/>
          </a:p>
        </p:txBody>
      </p:sp>
      <p:grpSp>
        <p:nvGrpSpPr>
          <p:cNvPr id="71" name="Google Shape;71;p14"/>
          <p:cNvGrpSpPr/>
          <p:nvPr/>
        </p:nvGrpSpPr>
        <p:grpSpPr>
          <a:xfrm>
            <a:off x="3463986" y="1624064"/>
            <a:ext cx="2216038" cy="1895310"/>
            <a:chOff x="945914" y="1590632"/>
            <a:chExt cx="2955900" cy="2528092"/>
          </a:xfrm>
        </p:grpSpPr>
        <p:sp>
          <p:nvSpPr>
            <p:cNvPr id="72" name="Google Shape;72;p14"/>
            <p:cNvSpPr/>
            <p:nvPr/>
          </p:nvSpPr>
          <p:spPr>
            <a:xfrm>
              <a:off x="945914" y="2052324"/>
              <a:ext cx="2955900" cy="20664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71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50" lIns="68550" spcFirstLastPara="1" rIns="68550" wrap="square" tIns="685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Obter uma </a:t>
              </a:r>
              <a:r>
                <a:rPr b="1" lang="pt-BR" sz="1200">
                  <a:latin typeface="Proxima Nova"/>
                  <a:ea typeface="Proxima Nova"/>
                  <a:cs typeface="Proxima Nova"/>
                  <a:sym typeface="Proxima Nova"/>
                </a:rPr>
                <a:t>visão geral de técnicas</a:t>
              </a: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 e requisitos necessários para implementação dos diferentes métodos de treinamento eficiente em LLM.</a:t>
              </a:r>
              <a:endParaRPr sz="12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73" name="Google Shape;73;p14"/>
            <p:cNvSpPr txBox="1"/>
            <p:nvPr/>
          </p:nvSpPr>
          <p:spPr>
            <a:xfrm>
              <a:off x="1322857" y="1590632"/>
              <a:ext cx="22020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50" lIns="68550" spcFirstLastPara="1" rIns="68550" wrap="square" tIns="68550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349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Problemática</a:t>
              </a:r>
              <a:endParaRPr sz="1349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74" name="Google Shape;74;p14"/>
          <p:cNvGrpSpPr/>
          <p:nvPr/>
        </p:nvGrpSpPr>
        <p:grpSpPr>
          <a:xfrm>
            <a:off x="368614" y="1624045"/>
            <a:ext cx="2215944" cy="1895217"/>
            <a:chOff x="5145729" y="1590450"/>
            <a:chExt cx="2702700" cy="2311523"/>
          </a:xfrm>
        </p:grpSpPr>
        <p:sp>
          <p:nvSpPr>
            <p:cNvPr id="75" name="Google Shape;75;p14"/>
            <p:cNvSpPr/>
            <p:nvPr/>
          </p:nvSpPr>
          <p:spPr>
            <a:xfrm>
              <a:off x="5145729" y="2052173"/>
              <a:ext cx="2702700" cy="1849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78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74975" lIns="74975" spcFirstLastPara="1" rIns="74975" wrap="square" tIns="749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Fine-tuning e seus diversos métodos e variações.</a:t>
              </a:r>
              <a:endParaRPr sz="12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76" name="Google Shape;76;p14"/>
            <p:cNvSpPr txBox="1"/>
            <p:nvPr/>
          </p:nvSpPr>
          <p:spPr>
            <a:xfrm>
              <a:off x="5587350" y="1590450"/>
              <a:ext cx="1680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74975" lIns="74975" spcFirstLastPara="1" rIns="74975" wrap="square" tIns="7497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476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Tema</a:t>
              </a:r>
              <a:endParaRPr sz="1476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77" name="Google Shape;77;p14"/>
          <p:cNvGrpSpPr/>
          <p:nvPr/>
        </p:nvGrpSpPr>
        <p:grpSpPr>
          <a:xfrm>
            <a:off x="6559439" y="1624133"/>
            <a:ext cx="2215944" cy="1895217"/>
            <a:chOff x="5145729" y="1590450"/>
            <a:chExt cx="2702700" cy="2311523"/>
          </a:xfrm>
        </p:grpSpPr>
        <p:sp>
          <p:nvSpPr>
            <p:cNvPr id="78" name="Google Shape;78;p14"/>
            <p:cNvSpPr/>
            <p:nvPr/>
          </p:nvSpPr>
          <p:spPr>
            <a:xfrm>
              <a:off x="5145729" y="2052173"/>
              <a:ext cx="2702700" cy="1849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78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74975" lIns="74975" spcFirstLastPara="1" rIns="74975" wrap="square" tIns="749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Assistir a compreensão das técnicas e </a:t>
              </a:r>
              <a:r>
                <a:rPr b="1" lang="pt-BR" sz="1200">
                  <a:latin typeface="Proxima Nova"/>
                  <a:ea typeface="Proxima Nova"/>
                  <a:cs typeface="Proxima Nova"/>
                  <a:sym typeface="Proxima Nova"/>
                </a:rPr>
                <a:t>agilizar</a:t>
              </a: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 a </a:t>
              </a: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tomada de decisões de implementação, considerando especialmente um usuário com pouca experiência.</a:t>
              </a:r>
              <a:endParaRPr sz="12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79" name="Google Shape;79;p14"/>
            <p:cNvSpPr txBox="1"/>
            <p:nvPr/>
          </p:nvSpPr>
          <p:spPr>
            <a:xfrm>
              <a:off x="5587350" y="1590450"/>
              <a:ext cx="1680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74975" lIns="74975" spcFirstLastPara="1" rIns="74975" wrap="square" tIns="7497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476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Justificativa</a:t>
              </a:r>
              <a:endParaRPr sz="1476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Metodologia</a:t>
            </a:r>
            <a:endParaRPr/>
          </a:p>
        </p:txBody>
      </p:sp>
      <p:sp>
        <p:nvSpPr>
          <p:cNvPr id="85" name="Google Shape;85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Tendo em vista alcançar a compreensão das técnicas de forma assistida por LLM, planejamos os seguintes passos:</a:t>
            </a:r>
            <a:endParaRPr sz="12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04800" lvl="0" marL="457200" rtl="0" algn="just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roxima Nova"/>
              <a:buAutoNum type="arabicPeriod"/>
            </a:pP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Coletar um </a:t>
            </a:r>
            <a:r>
              <a:rPr b="1"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acervo de materiais</a:t>
            </a: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 relacionados ao </a:t>
            </a:r>
            <a:r>
              <a:rPr b="1"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tema de </a:t>
            </a:r>
            <a:r>
              <a:rPr b="1" i="1"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Fine-Tuning </a:t>
            </a:r>
            <a:r>
              <a:rPr b="1"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(FT)</a:t>
            </a: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 e detalhamento e aplicações de seus métodos;</a:t>
            </a:r>
            <a:endParaRPr sz="12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048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roxima Nova"/>
              <a:buAutoNum type="arabicPeriod"/>
            </a:pP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Injetar acervo nas ferramentas de </a:t>
            </a:r>
            <a:r>
              <a:rPr b="1"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GraphRAG</a:t>
            </a: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.</a:t>
            </a:r>
            <a:endParaRPr sz="12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048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roxima Nova"/>
              <a:buAutoNum type="arabicPeriod"/>
            </a:pP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Utilizar </a:t>
            </a:r>
            <a:r>
              <a:rPr b="1"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GraphRAG + LLM</a:t>
            </a: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 para esclarecimentos e geração de </a:t>
            </a:r>
            <a:r>
              <a:rPr b="1"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informações agregadas</a:t>
            </a: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 sobre o tema, avaliando vantagens, desvantagens, aplicabilidade e relacionamentos das técnicas de fine-tuning;</a:t>
            </a:r>
            <a:endParaRPr sz="12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048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roxima Nova"/>
              <a:buAutoNum type="arabicPeriod"/>
            </a:pP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Comparação da qualidade de resposta das diferentes ferramentas.</a:t>
            </a:r>
            <a:endParaRPr sz="12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i="1" sz="12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Base de Conhecimento</a:t>
            </a:r>
            <a:endParaRPr/>
          </a:p>
        </p:txBody>
      </p:sp>
      <p:sp>
        <p:nvSpPr>
          <p:cNvPr id="91" name="Google Shape;91;p16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 base de conhecimento utilizada para ancorar as ferramentas consistiu em um acervo com 12 documentos (textos acadêmicos e artigos da internet). Isso gerou um </a:t>
            </a: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Knowledge</a:t>
            </a: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 Graph com:</a:t>
            </a:r>
            <a:endParaRPr sz="12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roxima Nova"/>
              <a:buChar char="●"/>
            </a:pP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3k+ entidades;</a:t>
            </a:r>
            <a:endParaRPr sz="12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roxima Nova"/>
              <a:buChar char="●"/>
            </a:pP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4k+ relacionamentos;</a:t>
            </a:r>
            <a:endParaRPr sz="12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roxima Nova"/>
              <a:buChar char="●"/>
            </a:pP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Principais entidades extraídas foram: LoRA, QLoRA, PEFT etc.</a:t>
            </a:r>
            <a:endParaRPr sz="12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92" name="Google Shape;92;p16"/>
          <p:cNvPicPr preferRelativeResize="0"/>
          <p:nvPr/>
        </p:nvPicPr>
        <p:blipFill rotWithShape="1">
          <a:blip r:embed="rId3">
            <a:alphaModFix/>
          </a:blip>
          <a:srcRect b="0" l="30405" r="21697" t="12603"/>
          <a:stretch/>
        </p:blipFill>
        <p:spPr>
          <a:xfrm>
            <a:off x="4917355" y="1152475"/>
            <a:ext cx="3914944" cy="341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Primeiro Teste: Sumarização das Técnicas de FT</a:t>
            </a:r>
            <a:endParaRPr/>
          </a:p>
        </p:txBody>
      </p:sp>
      <p:grpSp>
        <p:nvGrpSpPr>
          <p:cNvPr id="98" name="Google Shape;98;p17"/>
          <p:cNvGrpSpPr/>
          <p:nvPr/>
        </p:nvGrpSpPr>
        <p:grpSpPr>
          <a:xfrm>
            <a:off x="5247649" y="1590600"/>
            <a:ext cx="2702579" cy="2311434"/>
            <a:chOff x="945914" y="1590632"/>
            <a:chExt cx="2955900" cy="2528092"/>
          </a:xfrm>
        </p:grpSpPr>
        <p:sp>
          <p:nvSpPr>
            <p:cNvPr id="99" name="Google Shape;99;p17"/>
            <p:cNvSpPr/>
            <p:nvPr/>
          </p:nvSpPr>
          <p:spPr>
            <a:xfrm>
              <a:off x="945914" y="2052324"/>
              <a:ext cx="2955900" cy="20664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87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83600" lIns="83600" spcFirstLastPara="1" rIns="83600" wrap="square" tIns="83600">
              <a:noAutofit/>
            </a:bodyPr>
            <a:lstStyle/>
            <a:p>
              <a:pPr indent="-304800" lvl="0" marL="457200" rtl="0" algn="l">
                <a:spcBef>
                  <a:spcPts val="0"/>
                </a:spcBef>
                <a:spcAft>
                  <a:spcPts val="0"/>
                </a:spcAft>
                <a:buSzPts val="1200"/>
                <a:buFont typeface="Proxima Nova"/>
                <a:buChar char="●"/>
              </a:pP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Tabela estruturada;</a:t>
              </a:r>
              <a:endParaRPr sz="12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304800" lvl="0" marL="457200" rtl="0" algn="l">
                <a:spcBef>
                  <a:spcPts val="0"/>
                </a:spcBef>
                <a:spcAft>
                  <a:spcPts val="0"/>
                </a:spcAft>
                <a:buSzPts val="1200"/>
                <a:buFont typeface="Proxima Nova"/>
                <a:buChar char="●"/>
              </a:pP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Descrição de cada método;</a:t>
              </a:r>
              <a:endParaRPr sz="12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304800" lvl="0" marL="457200" rtl="0" algn="l">
                <a:spcBef>
                  <a:spcPts val="0"/>
                </a:spcBef>
                <a:spcAft>
                  <a:spcPts val="0"/>
                </a:spcAft>
                <a:buSzPts val="1200"/>
                <a:buFont typeface="Proxima Nova"/>
                <a:buChar char="●"/>
              </a:pP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Explicação das </a:t>
              </a: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diferenças</a:t>
              </a: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 entre cada método;</a:t>
              </a:r>
              <a:endParaRPr sz="12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304800" lvl="0" marL="457200" rtl="0" algn="l">
                <a:spcBef>
                  <a:spcPts val="0"/>
                </a:spcBef>
                <a:spcAft>
                  <a:spcPts val="0"/>
                </a:spcAft>
                <a:buSzPts val="1200"/>
                <a:buFont typeface="Proxima Nova"/>
                <a:buChar char="●"/>
              </a:pP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Citar a aplicabilidade de cada método;</a:t>
              </a:r>
              <a:endParaRPr sz="12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304800" lvl="0" marL="457200" rtl="0" algn="l">
                <a:spcBef>
                  <a:spcPts val="0"/>
                </a:spcBef>
                <a:spcAft>
                  <a:spcPts val="0"/>
                </a:spcAft>
                <a:buSzPts val="1200"/>
                <a:buFont typeface="Proxima Nova"/>
                <a:buChar char="●"/>
              </a:pP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Fundamentar as afirmações com base nas referências fornecidas.</a:t>
              </a:r>
              <a:endParaRPr sz="12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100" name="Google Shape;100;p17"/>
            <p:cNvSpPr txBox="1"/>
            <p:nvPr/>
          </p:nvSpPr>
          <p:spPr>
            <a:xfrm>
              <a:off x="1322857" y="1590632"/>
              <a:ext cx="22020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83600" lIns="83600" spcFirstLastPara="1" rIns="83600" wrap="square" tIns="83600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46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Resultado Esperado</a:t>
              </a:r>
              <a:endParaRPr sz="1646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101" name="Google Shape;101;p17"/>
          <p:cNvGrpSpPr/>
          <p:nvPr/>
        </p:nvGrpSpPr>
        <p:grpSpPr>
          <a:xfrm>
            <a:off x="1287035" y="1590604"/>
            <a:ext cx="2702700" cy="2311675"/>
            <a:chOff x="5076300" y="1590450"/>
            <a:chExt cx="2702700" cy="2311675"/>
          </a:xfrm>
        </p:grpSpPr>
        <p:sp>
          <p:nvSpPr>
            <p:cNvPr id="102" name="Google Shape;102;p17"/>
            <p:cNvSpPr/>
            <p:nvPr/>
          </p:nvSpPr>
          <p:spPr>
            <a:xfrm>
              <a:off x="5076300" y="2052325"/>
              <a:ext cx="2702700" cy="1849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“Resuma os métodos de fine-tuning e a relação entre comparativa entre eles. </a:t>
              </a: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Sumarize</a:t>
              </a: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 isso em formato de tabela comparativa.”</a:t>
              </a:r>
              <a:endParaRPr sz="12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103" name="Google Shape;103;p17"/>
            <p:cNvSpPr txBox="1"/>
            <p:nvPr/>
          </p:nvSpPr>
          <p:spPr>
            <a:xfrm>
              <a:off x="5587350" y="1590450"/>
              <a:ext cx="1680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Prompt</a:t>
              </a:r>
              <a:endPara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Primeiro Teste: EdgeQuake</a:t>
            </a:r>
            <a:endParaRPr/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2064" y="1017725"/>
            <a:ext cx="6559874" cy="289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8"/>
          <p:cNvSpPr txBox="1"/>
          <p:nvPr/>
        </p:nvSpPr>
        <p:spPr>
          <a:xfrm>
            <a:off x="311700" y="4068500"/>
            <a:ext cx="8520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roxima Nova"/>
              <a:buChar char="●"/>
            </a:pPr>
            <a:r>
              <a:rPr lang="pt-BR" sz="15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Métodos PEFT: LoRA, QLoRA e IA³; Maior aderência para treinamento em geração de código;</a:t>
            </a:r>
            <a:endParaRPr sz="15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roxima Nova"/>
              <a:buChar char="●"/>
            </a:pPr>
            <a:r>
              <a:rPr lang="pt-BR" sz="15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Há métodos destinados a: segurança/privacidade, limitações de hardware, etc.</a:t>
            </a:r>
            <a:endParaRPr sz="15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/>
        </p:nvSpPr>
        <p:spPr>
          <a:xfrm>
            <a:off x="372200" y="4213725"/>
            <a:ext cx="8520600" cy="10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Recomendação Final: QLoRA ( 18x menos memória, 99% qualidade retida, LLaMA-65B viável em GPU 48GB, Versatilidade para qualquer cenário)</a:t>
            </a:r>
            <a:endParaRPr sz="15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45720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0525" y="1110325"/>
            <a:ext cx="5382951" cy="3010799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Primeiro Teste: Graphify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Primeiro Teste: NotebookLM</a:t>
            </a:r>
            <a:endParaRPr/>
          </a:p>
        </p:txBody>
      </p:sp>
      <p:pic>
        <p:nvPicPr>
          <p:cNvPr id="123" name="Google Shape;12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19575" y="1198763"/>
            <a:ext cx="3904856" cy="2745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Primeiro Teste: Resultados</a:t>
            </a:r>
            <a:endParaRPr/>
          </a:p>
        </p:txBody>
      </p:sp>
      <p:grpSp>
        <p:nvGrpSpPr>
          <p:cNvPr id="129" name="Google Shape;129;p21"/>
          <p:cNvGrpSpPr/>
          <p:nvPr/>
        </p:nvGrpSpPr>
        <p:grpSpPr>
          <a:xfrm>
            <a:off x="3463986" y="1624064"/>
            <a:ext cx="2216038" cy="1895310"/>
            <a:chOff x="945914" y="1590632"/>
            <a:chExt cx="2955900" cy="2528092"/>
          </a:xfrm>
        </p:grpSpPr>
        <p:sp>
          <p:nvSpPr>
            <p:cNvPr id="130" name="Google Shape;130;p21"/>
            <p:cNvSpPr/>
            <p:nvPr/>
          </p:nvSpPr>
          <p:spPr>
            <a:xfrm>
              <a:off x="945914" y="2052324"/>
              <a:ext cx="2955900" cy="20664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71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50" lIns="68550" spcFirstLastPara="1" rIns="68550" wrap="square" tIns="68550">
              <a:noAutofit/>
            </a:bodyPr>
            <a:lstStyle/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Criou analogias e pseudocódigo para facilitar a compreensão;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Trouxe recomendações de qual técnica utilizar dadas as suas prioridades (ex. tempo de inferência, RAM disponível…);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Trouxe referências aos nós do grafo aglomeradas ao final da resposta.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131" name="Google Shape;131;p21"/>
            <p:cNvSpPr txBox="1"/>
            <p:nvPr/>
          </p:nvSpPr>
          <p:spPr>
            <a:xfrm>
              <a:off x="1322857" y="1590632"/>
              <a:ext cx="22020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50" lIns="68550" spcFirstLastPara="1" rIns="68550" wrap="square" tIns="68550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349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Graphify</a:t>
              </a:r>
              <a:endParaRPr sz="1349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132" name="Google Shape;132;p21"/>
          <p:cNvGrpSpPr/>
          <p:nvPr/>
        </p:nvGrpSpPr>
        <p:grpSpPr>
          <a:xfrm>
            <a:off x="368614" y="1624045"/>
            <a:ext cx="2215944" cy="1895217"/>
            <a:chOff x="5145729" y="1590450"/>
            <a:chExt cx="2702700" cy="2311523"/>
          </a:xfrm>
        </p:grpSpPr>
        <p:sp>
          <p:nvSpPr>
            <p:cNvPr id="133" name="Google Shape;133;p21"/>
            <p:cNvSpPr/>
            <p:nvPr/>
          </p:nvSpPr>
          <p:spPr>
            <a:xfrm>
              <a:off x="5145729" y="2052173"/>
              <a:ext cx="2702700" cy="1849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78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74975" lIns="74975" spcFirstLastPara="1" rIns="74975" wrap="square" tIns="74975">
              <a:noAutofit/>
            </a:bodyPr>
            <a:lstStyle/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Trouxe porcentagem de parâmetros treináveis;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Citou modelos que utilizaram cada método.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Trouxe referências aglomeradas ao final da resposta.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134" name="Google Shape;134;p21"/>
            <p:cNvSpPr txBox="1"/>
            <p:nvPr/>
          </p:nvSpPr>
          <p:spPr>
            <a:xfrm>
              <a:off x="5587350" y="1590450"/>
              <a:ext cx="1680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74975" lIns="74975" spcFirstLastPara="1" rIns="74975" wrap="square" tIns="7497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476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EdgeQuake</a:t>
              </a:r>
              <a:endParaRPr sz="1476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135" name="Google Shape;135;p21"/>
          <p:cNvGrpSpPr/>
          <p:nvPr/>
        </p:nvGrpSpPr>
        <p:grpSpPr>
          <a:xfrm>
            <a:off x="6559439" y="1624133"/>
            <a:ext cx="2215944" cy="1895217"/>
            <a:chOff x="5145729" y="1590450"/>
            <a:chExt cx="2702700" cy="2311523"/>
          </a:xfrm>
        </p:grpSpPr>
        <p:sp>
          <p:nvSpPr>
            <p:cNvPr id="136" name="Google Shape;136;p21"/>
            <p:cNvSpPr/>
            <p:nvPr/>
          </p:nvSpPr>
          <p:spPr>
            <a:xfrm>
              <a:off x="5145729" y="2052173"/>
              <a:ext cx="2702700" cy="1849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78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74975" lIns="74975" spcFirstLastPara="1" rIns="74975" wrap="square" tIns="74975">
              <a:noAutofit/>
            </a:bodyPr>
            <a:lstStyle/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Trouxe porcentagem de parâmetros treináveis;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Citou impactos que cada técnica poderia apresentar no tempo de inferência;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Trouxe referências para cada afirmação feita.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137" name="Google Shape;137;p21"/>
            <p:cNvSpPr txBox="1"/>
            <p:nvPr/>
          </p:nvSpPr>
          <p:spPr>
            <a:xfrm>
              <a:off x="5587350" y="1590450"/>
              <a:ext cx="1680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74975" lIns="74975" spcFirstLastPara="1" rIns="74975" wrap="square" tIns="7497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476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NotebookLM</a:t>
              </a:r>
              <a:endParaRPr sz="1476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Segundo Teste: Construção de Timeline das técnicas</a:t>
            </a:r>
            <a:endParaRPr/>
          </a:p>
        </p:txBody>
      </p:sp>
      <p:grpSp>
        <p:nvGrpSpPr>
          <p:cNvPr id="143" name="Google Shape;143;p22"/>
          <p:cNvGrpSpPr/>
          <p:nvPr/>
        </p:nvGrpSpPr>
        <p:grpSpPr>
          <a:xfrm>
            <a:off x="5247649" y="1590600"/>
            <a:ext cx="2702579" cy="2311434"/>
            <a:chOff x="945914" y="1590632"/>
            <a:chExt cx="2955900" cy="2528092"/>
          </a:xfrm>
        </p:grpSpPr>
        <p:sp>
          <p:nvSpPr>
            <p:cNvPr id="144" name="Google Shape;144;p22"/>
            <p:cNvSpPr/>
            <p:nvPr/>
          </p:nvSpPr>
          <p:spPr>
            <a:xfrm>
              <a:off x="945914" y="2052324"/>
              <a:ext cx="2955900" cy="20664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87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83600" lIns="83600" spcFirstLastPara="1" rIns="83600" wrap="square" tIns="83600">
              <a:noAutofit/>
            </a:bodyPr>
            <a:lstStyle/>
            <a:p>
              <a:pPr indent="-304800" lvl="0" marL="457200" rtl="0" algn="l">
                <a:spcBef>
                  <a:spcPts val="0"/>
                </a:spcBef>
                <a:spcAft>
                  <a:spcPts val="0"/>
                </a:spcAft>
                <a:buSzPts val="1200"/>
                <a:buFont typeface="Proxima Nova"/>
                <a:buChar char="●"/>
              </a:pP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Atendimento aos 3 requisitos;</a:t>
              </a:r>
              <a:endParaRPr sz="12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304800" lvl="0" marL="457200" rtl="0" algn="l">
                <a:spcBef>
                  <a:spcPts val="0"/>
                </a:spcBef>
                <a:spcAft>
                  <a:spcPts val="0"/>
                </a:spcAft>
                <a:buSzPts val="1200"/>
                <a:buFont typeface="Proxima Nova"/>
                <a:buChar char="●"/>
              </a:pPr>
              <a:r>
                <a:rPr lang="pt-BR" sz="1200">
                  <a:latin typeface="Proxima Nova"/>
                  <a:ea typeface="Proxima Nova"/>
                  <a:cs typeface="Proxima Nova"/>
                  <a:sym typeface="Proxima Nova"/>
                </a:rPr>
                <a:t>Fundamentar as afirmações com base nas referências fornecidas.</a:t>
              </a:r>
              <a:endParaRPr sz="12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145" name="Google Shape;145;p22"/>
            <p:cNvSpPr txBox="1"/>
            <p:nvPr/>
          </p:nvSpPr>
          <p:spPr>
            <a:xfrm>
              <a:off x="1322857" y="1590632"/>
              <a:ext cx="22020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83600" lIns="83600" spcFirstLastPara="1" rIns="83600" wrap="square" tIns="83600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46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Resultado Esperado</a:t>
              </a:r>
              <a:endParaRPr sz="1646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146" name="Google Shape;146;p22"/>
          <p:cNvGrpSpPr/>
          <p:nvPr/>
        </p:nvGrpSpPr>
        <p:grpSpPr>
          <a:xfrm>
            <a:off x="1287035" y="1590604"/>
            <a:ext cx="2702700" cy="2311675"/>
            <a:chOff x="5076300" y="1590450"/>
            <a:chExt cx="2702700" cy="2311675"/>
          </a:xfrm>
        </p:grpSpPr>
        <p:sp>
          <p:nvSpPr>
            <p:cNvPr id="147" name="Google Shape;147;p22"/>
            <p:cNvSpPr/>
            <p:nvPr/>
          </p:nvSpPr>
          <p:spPr>
            <a:xfrm>
              <a:off x="5076300" y="2052325"/>
              <a:ext cx="2702700" cy="1849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“</a:t>
              </a: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Explique detalhadamente todas as técnicas de fine-tuning abordadas pelas fontes. Apresente-as em ordem cronológica de surgimento e evidencie para cada uma: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85750" lvl="0" marL="457200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As técnicas e conceitos que as inspiraram;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85750" lvl="0" marL="457200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Vantagens e desvantagens em relação às suas antecessoras;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85750" lvl="0" marL="457200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Pontos importantes para a utilização delas na prática.”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148" name="Google Shape;148;p22"/>
            <p:cNvSpPr txBox="1"/>
            <p:nvPr/>
          </p:nvSpPr>
          <p:spPr>
            <a:xfrm>
              <a:off x="5587350" y="1590450"/>
              <a:ext cx="1680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Prompt</a:t>
              </a:r>
              <a:endPara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Segundo Teste: Resultados</a:t>
            </a:r>
            <a:endParaRPr/>
          </a:p>
        </p:txBody>
      </p:sp>
      <p:grpSp>
        <p:nvGrpSpPr>
          <p:cNvPr id="154" name="Google Shape;154;p23"/>
          <p:cNvGrpSpPr/>
          <p:nvPr/>
        </p:nvGrpSpPr>
        <p:grpSpPr>
          <a:xfrm>
            <a:off x="3463986" y="1624064"/>
            <a:ext cx="2216038" cy="1895310"/>
            <a:chOff x="945914" y="1590632"/>
            <a:chExt cx="2955900" cy="2528092"/>
          </a:xfrm>
        </p:grpSpPr>
        <p:sp>
          <p:nvSpPr>
            <p:cNvPr id="155" name="Google Shape;155;p23"/>
            <p:cNvSpPr/>
            <p:nvPr/>
          </p:nvSpPr>
          <p:spPr>
            <a:xfrm>
              <a:off x="945914" y="2052324"/>
              <a:ext cx="2955900" cy="20664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71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50" lIns="68550" spcFirstLastPara="1" rIns="68550" wrap="square" tIns="68550">
              <a:noAutofit/>
            </a:bodyPr>
            <a:lstStyle/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Trouxe as técnicas na sequência correta de publicação;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Citou os anos de publicação de cada técnica;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Criou analogias e pseudocódigo para facilitar a compreensão;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Citou fontes de forma esporádica;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Deu uma recomendação final.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156" name="Google Shape;156;p23"/>
            <p:cNvSpPr txBox="1"/>
            <p:nvPr/>
          </p:nvSpPr>
          <p:spPr>
            <a:xfrm>
              <a:off x="1322857" y="1590632"/>
              <a:ext cx="22020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50" lIns="68550" spcFirstLastPara="1" rIns="68550" wrap="square" tIns="68550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349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Graphify</a:t>
              </a:r>
              <a:endParaRPr sz="1349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157" name="Google Shape;157;p23"/>
          <p:cNvGrpSpPr/>
          <p:nvPr/>
        </p:nvGrpSpPr>
        <p:grpSpPr>
          <a:xfrm>
            <a:off x="368614" y="1624045"/>
            <a:ext cx="2215944" cy="1895217"/>
            <a:chOff x="5145729" y="1590450"/>
            <a:chExt cx="2702700" cy="2311523"/>
          </a:xfrm>
        </p:grpSpPr>
        <p:sp>
          <p:nvSpPr>
            <p:cNvPr id="158" name="Google Shape;158;p23"/>
            <p:cNvSpPr/>
            <p:nvPr/>
          </p:nvSpPr>
          <p:spPr>
            <a:xfrm>
              <a:off x="5145729" y="2052173"/>
              <a:ext cx="2702700" cy="1849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78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74975" lIns="74975" spcFirstLastPara="1" rIns="74975" wrap="square" tIns="74975">
              <a:noAutofit/>
            </a:bodyPr>
            <a:lstStyle/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Trouxe as técnicas na sequência correta de publicação;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b="1" lang="pt-BR" sz="900">
                  <a:latin typeface="Proxima Nova"/>
                  <a:ea typeface="Proxima Nova"/>
                  <a:cs typeface="Proxima Nova"/>
                  <a:sym typeface="Proxima Nova"/>
                </a:rPr>
                <a:t>Não</a:t>
              </a: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 c</a:t>
              </a: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itou os anos de publicação de cada técnica;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Trouxe referências aglomeradas ao final da resposta.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159" name="Google Shape;159;p23"/>
            <p:cNvSpPr txBox="1"/>
            <p:nvPr/>
          </p:nvSpPr>
          <p:spPr>
            <a:xfrm>
              <a:off x="5587350" y="1590450"/>
              <a:ext cx="1680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74975" lIns="74975" spcFirstLastPara="1" rIns="74975" wrap="square" tIns="7497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476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EdgeQuake</a:t>
              </a:r>
              <a:endParaRPr sz="1476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160" name="Google Shape;160;p23"/>
          <p:cNvGrpSpPr/>
          <p:nvPr/>
        </p:nvGrpSpPr>
        <p:grpSpPr>
          <a:xfrm>
            <a:off x="6559439" y="1624133"/>
            <a:ext cx="2215944" cy="1895217"/>
            <a:chOff x="5145729" y="1590450"/>
            <a:chExt cx="2702700" cy="2311523"/>
          </a:xfrm>
        </p:grpSpPr>
        <p:sp>
          <p:nvSpPr>
            <p:cNvPr id="161" name="Google Shape;161;p23"/>
            <p:cNvSpPr/>
            <p:nvPr/>
          </p:nvSpPr>
          <p:spPr>
            <a:xfrm>
              <a:off x="5145729" y="2052173"/>
              <a:ext cx="2702700" cy="1849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78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74975" lIns="74975" spcFirstLastPara="1" rIns="74975" wrap="square" tIns="74975">
              <a:noAutofit/>
            </a:bodyPr>
            <a:lstStyle/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Trouxe as técnicas na sequência correta de publicação;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Citou os anos de publicação de cada técnica;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Satisfez os 3 requisitos exigidos no prompt.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Trouxe referências para cada afirmação feita.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162" name="Google Shape;162;p23"/>
            <p:cNvSpPr txBox="1"/>
            <p:nvPr/>
          </p:nvSpPr>
          <p:spPr>
            <a:xfrm>
              <a:off x="5587350" y="1590450"/>
              <a:ext cx="1680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74975" lIns="74975" spcFirstLastPara="1" rIns="74975" wrap="square" tIns="7497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476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NotebookLM</a:t>
              </a:r>
              <a:endParaRPr sz="1476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Conclusão</a:t>
            </a:r>
            <a:endParaRPr/>
          </a:p>
        </p:txBody>
      </p:sp>
      <p:sp>
        <p:nvSpPr>
          <p:cNvPr id="168" name="Google Shape;168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Nosso grupo avaliou as três ferramentas como sendo, no geral, satisfatórias à problemática proposta. Apesar disso, entendemos que o EdgeQuake e o Graphify ainda não tem um nível de maturidade comparável ao do NotebookLM, que traz muitas funcionalidades indisponíveis nas outras ferramentas.</a:t>
            </a:r>
            <a:endParaRPr sz="12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169" name="Google Shape;169;p24"/>
          <p:cNvGrpSpPr/>
          <p:nvPr/>
        </p:nvGrpSpPr>
        <p:grpSpPr>
          <a:xfrm>
            <a:off x="3463986" y="2150489"/>
            <a:ext cx="2216038" cy="1895310"/>
            <a:chOff x="945914" y="1590632"/>
            <a:chExt cx="2955900" cy="2528092"/>
          </a:xfrm>
        </p:grpSpPr>
        <p:sp>
          <p:nvSpPr>
            <p:cNvPr id="170" name="Google Shape;170;p24"/>
            <p:cNvSpPr/>
            <p:nvPr/>
          </p:nvSpPr>
          <p:spPr>
            <a:xfrm>
              <a:off x="945914" y="2052324"/>
              <a:ext cx="2955900" cy="20664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71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50" lIns="68550" spcFirstLastPara="1" rIns="68550" wrap="square" tIns="685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Pontos Fortes: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Integração com assistentes de IA por meio da IDE, sem necessidade da criação de tokens;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Pontos Fracos: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85725" lvl="0" marL="457200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Não trouxe referências ao longo do texto.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171" name="Google Shape;171;p24"/>
            <p:cNvSpPr txBox="1"/>
            <p:nvPr/>
          </p:nvSpPr>
          <p:spPr>
            <a:xfrm>
              <a:off x="1322857" y="1590632"/>
              <a:ext cx="22020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50" lIns="68550" spcFirstLastPara="1" rIns="68550" wrap="square" tIns="68550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349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Graphify</a:t>
              </a:r>
              <a:endParaRPr sz="1349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172" name="Google Shape;172;p24"/>
          <p:cNvGrpSpPr/>
          <p:nvPr/>
        </p:nvGrpSpPr>
        <p:grpSpPr>
          <a:xfrm>
            <a:off x="368614" y="2150470"/>
            <a:ext cx="2215944" cy="1895217"/>
            <a:chOff x="5145729" y="1590450"/>
            <a:chExt cx="2702700" cy="2311523"/>
          </a:xfrm>
        </p:grpSpPr>
        <p:sp>
          <p:nvSpPr>
            <p:cNvPr id="173" name="Google Shape;173;p24"/>
            <p:cNvSpPr/>
            <p:nvPr/>
          </p:nvSpPr>
          <p:spPr>
            <a:xfrm>
              <a:off x="5145729" y="2052173"/>
              <a:ext cx="2702700" cy="1849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78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74975" lIns="74975" spcFirstLastPara="1" rIns="74975" wrap="square" tIns="74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Pontos Fortes: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Flexibilidade para integração com outras soluções;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Facilidade de instalação.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Pontos Fracos: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85725" lvl="0" marL="457200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Não trouxe referências ao longo do texto.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174" name="Google Shape;174;p24"/>
            <p:cNvSpPr txBox="1"/>
            <p:nvPr/>
          </p:nvSpPr>
          <p:spPr>
            <a:xfrm>
              <a:off x="5587350" y="1590450"/>
              <a:ext cx="1680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74975" lIns="74975" spcFirstLastPara="1" rIns="74975" wrap="square" tIns="7497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476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EdgeQuake</a:t>
              </a:r>
              <a:endParaRPr sz="1476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175" name="Google Shape;175;p24"/>
          <p:cNvGrpSpPr/>
          <p:nvPr/>
        </p:nvGrpSpPr>
        <p:grpSpPr>
          <a:xfrm>
            <a:off x="6559439" y="2150558"/>
            <a:ext cx="2215944" cy="1895217"/>
            <a:chOff x="5145729" y="1590450"/>
            <a:chExt cx="2702700" cy="2311523"/>
          </a:xfrm>
        </p:grpSpPr>
        <p:sp>
          <p:nvSpPr>
            <p:cNvPr id="176" name="Google Shape;176;p24"/>
            <p:cNvSpPr/>
            <p:nvPr/>
          </p:nvSpPr>
          <p:spPr>
            <a:xfrm>
              <a:off x="5145729" y="2052173"/>
              <a:ext cx="2702700" cy="1849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78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74975" lIns="74975" spcFirstLastPara="1" rIns="74975" wrap="square" tIns="74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Pontos Fortes: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44561" lvl="0" marL="374871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Trouxe referências para cada afirmação feita.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Pontos Fracos: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  <a:p>
              <a:pPr indent="-285725" lvl="0" marL="457200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Proxima Nova"/>
                <a:buChar char="●"/>
              </a:pP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Não deve ser utilizado com informações privadas ou </a:t>
              </a: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sigilosas</a:t>
              </a:r>
              <a:r>
                <a:rPr lang="pt-BR" sz="900">
                  <a:latin typeface="Proxima Nova"/>
                  <a:ea typeface="Proxima Nova"/>
                  <a:cs typeface="Proxima Nova"/>
                  <a:sym typeface="Proxima Nova"/>
                </a:rPr>
                <a:t>.</a:t>
              </a:r>
              <a:endParaRPr sz="900"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177" name="Google Shape;177;p24"/>
            <p:cNvSpPr txBox="1"/>
            <p:nvPr/>
          </p:nvSpPr>
          <p:spPr>
            <a:xfrm>
              <a:off x="5587350" y="1590450"/>
              <a:ext cx="1680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74975" lIns="74975" spcFirstLastPara="1" rIns="74975" wrap="square" tIns="7497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476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NotebookLM</a:t>
              </a:r>
              <a:endParaRPr sz="1476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ate">
  <a:themeElements>
    <a:clrScheme name="Slate">
      <a:dk1>
        <a:srgbClr val="FFFFFF"/>
      </a:dk1>
      <a:lt1>
        <a:srgbClr val="37474F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FFD966"/>
      </a:hlink>
      <a:folHlink>
        <a:srgbClr val="FFD9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